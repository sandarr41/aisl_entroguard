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ru-RU" sz="1400" b="1">
                <a:solidFill>
                  <a:srgbClr val="121A2B"/>
                </a:solidFill>
                <a:latin typeface="Calibri"/>
              </a:rPr>
              <a:t>Приватность (утечка) -- ниже = лучше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BLEU-2</c:v>
                </c:pt>
              </c:strCache>
            </c:strRef>
          </c:tx>
          <c:spPr>
            <a:solidFill>
              <a:srgbClr val="3B82F6"/>
            </a:solidFill>
            <a:ln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21A2B"/>
                    </a:solidFill>
                    <a:latin typeface="Calibri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none</c:v>
                </c:pt>
                <c:pt idx="1">
                  <c:v>gaussian</c:v>
                </c:pt>
                <c:pt idx="2">
                  <c:v>pgd</c:v>
                </c:pt>
                <c:pt idx="3">
                  <c:v>entroguard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0.19700000000000001</c:v>
                </c:pt>
                <c:pt idx="1">
                  <c:v>0.10100000000000001</c:v>
                </c:pt>
                <c:pt idx="2">
                  <c:v>1E-3</c:v>
                </c:pt>
                <c:pt idx="3">
                  <c:v>6.9000000000000006E-2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0E2-4735-BDBE-9E7E2EC04C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ROUGE-1</c:v>
                </c:pt>
              </c:strCache>
            </c:strRef>
          </c:tx>
          <c:spPr>
            <a:solidFill>
              <a:srgbClr val="F97316"/>
            </a:solidFill>
            <a:ln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21A2B"/>
                    </a:solidFill>
                    <a:latin typeface="Calibri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none</c:v>
                </c:pt>
                <c:pt idx="1">
                  <c:v>gaussian</c:v>
                </c:pt>
                <c:pt idx="2">
                  <c:v>pgd</c:v>
                </c:pt>
                <c:pt idx="3">
                  <c:v>entroguard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0.42899999999999999</c:v>
                </c:pt>
                <c:pt idx="2">
                  <c:v>0.24099999999999999</c:v>
                </c:pt>
                <c:pt idx="3">
                  <c:v>0.433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0E2-4735-BDBE-9E7E2EC04C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3A4BF"/>
            </a:solidFill>
          </a:ln>
        </c:spPr>
        <c:txPr>
          <a:bodyPr/>
          <a:lstStyle/>
          <a:p>
            <a:pPr>
              <a:defRPr sz="1100">
                <a:solidFill>
                  <a:srgbClr val="121A2B"/>
                </a:solidFill>
                <a:latin typeface="Calibri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121A2B"/>
              </a:solidFill>
              <a:latin typeface="Calibri"/>
            </a:defRPr>
          </a:pPr>
          <a:endParaRPr lang="ru-RU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121A2B"/>
                </a:solidFill>
                <a:latin typeface="Calibri"/>
              </a:rPr>
              <a:t>LSTM: BLEU-2 (</a:t>
            </a:r>
            <a:r>
              <a:rPr lang="ru-RU" sz="1400" b="1">
                <a:solidFill>
                  <a:srgbClr val="121A2B"/>
                </a:solidFill>
                <a:latin typeface="Calibri"/>
              </a:rPr>
              <a:t>ниже = лучше)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BLEU-2</c:v>
                </c:pt>
              </c:strCache>
            </c:strRef>
          </c:tx>
          <c:spPr>
            <a:solidFill>
              <a:srgbClr val="22C55E"/>
            </a:solidFill>
            <a:ln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21A2B"/>
                    </a:solidFill>
                    <a:latin typeface="Calibri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none</c:v>
                </c:pt>
                <c:pt idx="1">
                  <c:v>gaussian</c:v>
                </c:pt>
                <c:pt idx="2">
                  <c:v>pgd</c:v>
                </c:pt>
                <c:pt idx="3">
                  <c:v>zero-shot</c:v>
                </c:pt>
                <c:pt idx="4">
                  <c:v>native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0.20799999999999999</c:v>
                </c:pt>
                <c:pt idx="1">
                  <c:v>9.8000000000000004E-2</c:v>
                </c:pt>
                <c:pt idx="2">
                  <c:v>7.0000000000000001E-3</c:v>
                </c:pt>
                <c:pt idx="3">
                  <c:v>7.9000000000000001E-2</c:v>
                </c:pt>
                <c:pt idx="4">
                  <c:v>8.9999999999999993E-3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A2A-429C-B64C-9D622A9195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3A4BF"/>
            </a:solidFill>
          </a:ln>
        </c:spPr>
        <c:txPr>
          <a:bodyPr/>
          <a:lstStyle/>
          <a:p>
            <a:pPr>
              <a:defRPr sz="1100">
                <a:solidFill>
                  <a:srgbClr val="121A2B"/>
                </a:solidFill>
                <a:latin typeface="Calibri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121A2B"/>
                </a:solidFill>
                <a:latin typeface="Calibri"/>
              </a:rPr>
              <a:t>CNN: BLEU-2 (</a:t>
            </a:r>
            <a:r>
              <a:rPr lang="ru-RU" sz="1400" b="1">
                <a:solidFill>
                  <a:srgbClr val="121A2B"/>
                </a:solidFill>
                <a:latin typeface="Calibri"/>
              </a:rPr>
              <a:t>ниже = лучше)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BLEU-2</c:v>
                </c:pt>
              </c:strCache>
            </c:strRef>
          </c:tx>
          <c:spPr>
            <a:solidFill>
              <a:srgbClr val="F97316"/>
            </a:solidFill>
            <a:ln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21A2B"/>
                    </a:solidFill>
                    <a:latin typeface="Calibri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none</c:v>
                </c:pt>
                <c:pt idx="1">
                  <c:v>gaussian</c:v>
                </c:pt>
                <c:pt idx="2">
                  <c:v>pgd</c:v>
                </c:pt>
                <c:pt idx="3">
                  <c:v>zero-shot</c:v>
                </c:pt>
                <c:pt idx="4">
                  <c:v>native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0.114</c:v>
                </c:pt>
                <c:pt idx="1">
                  <c:v>8.5000000000000006E-2</c:v>
                </c:pt>
                <c:pt idx="2">
                  <c:v>6.0000000000000001E-3</c:v>
                </c:pt>
                <c:pt idx="3">
                  <c:v>7.5999999999999998E-2</c:v>
                </c:pt>
                <c:pt idx="4">
                  <c:v>2E-3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438-4701-8D4A-1F52962568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3A4BF"/>
            </a:solidFill>
          </a:ln>
        </c:spPr>
        <c:txPr>
          <a:bodyPr/>
          <a:lstStyle/>
          <a:p>
            <a:pPr>
              <a:defRPr sz="1100">
                <a:solidFill>
                  <a:srgbClr val="121A2B"/>
                </a:solidFill>
                <a:latin typeface="Calibri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121A2B"/>
                </a:solidFill>
                <a:latin typeface="Calibri"/>
              </a:rPr>
              <a:t>BLEU-2: static vs adaptive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static</c:v>
                </c:pt>
              </c:strCache>
            </c:strRef>
          </c:tx>
          <c:spPr>
            <a:solidFill>
              <a:srgbClr val="94A3B8"/>
            </a:solidFill>
            <a:ln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21A2B"/>
                    </a:solidFill>
                    <a:latin typeface="Calibri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gaussian</c:v>
                </c:pt>
                <c:pt idx="1">
                  <c:v>pgd</c:v>
                </c:pt>
                <c:pt idx="2">
                  <c:v>entroguard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9.0999999999999998E-2</c:v>
                </c:pt>
                <c:pt idx="1">
                  <c:v>1E-3</c:v>
                </c:pt>
                <c:pt idx="2">
                  <c:v>6.9000000000000006E-2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CC7-4AF5-8F57-D34A8BCCF7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adaptive</c:v>
                </c:pt>
              </c:strCache>
            </c:strRef>
          </c:tx>
          <c:spPr>
            <a:solidFill>
              <a:srgbClr val="EF4444"/>
            </a:solidFill>
            <a:ln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21A2B"/>
                    </a:solidFill>
                    <a:latin typeface="Calibri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gaussian</c:v>
                </c:pt>
                <c:pt idx="1">
                  <c:v>pgd</c:v>
                </c:pt>
                <c:pt idx="2">
                  <c:v>entroguard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0.13100000000000001</c:v>
                </c:pt>
                <c:pt idx="1">
                  <c:v>3.1E-2</c:v>
                </c:pt>
                <c:pt idx="2">
                  <c:v>0.20799999999999999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CC7-4AF5-8F57-D34A8BCCF7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3A4BF"/>
            </a:solidFill>
          </a:ln>
        </c:spPr>
        <c:txPr>
          <a:bodyPr/>
          <a:lstStyle/>
          <a:p>
            <a:pPr>
              <a:defRPr sz="1100">
                <a:solidFill>
                  <a:srgbClr val="121A2B"/>
                </a:solidFill>
                <a:latin typeface="Calibri"/>
              </a:defRPr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121A2B"/>
              </a:solidFill>
              <a:latin typeface="Calibri"/>
            </a:defRPr>
          </a:pPr>
          <a:endParaRPr lang="ru-RU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-2377440"/>
            <a:ext cx="6583680" cy="6583680"/>
          </a:xfrm>
          <a:prstGeom prst="ellipse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mbria"/>
              </a:rPr>
              <a:t>EntroGuard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E5EDF7"/>
                </a:solidFill>
                <a:latin typeface="Calibri"/>
              </a:rPr>
              <a:t>Защита текстовых эмбеддингов от инверсии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77639"/>
            <a:ext cx="121916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93A4BF"/>
                </a:solidFill>
                <a:latin typeface="Calibri"/>
              </a:rPr>
              <a:t>Исследовательская практика · индивидуальный проект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A2B"/>
                </a:solidFill>
                <a:latin typeface="Cambria"/>
              </a:rPr>
              <a:t>Проблематика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4748B"/>
                </a:solidFill>
                <a:latin typeface="Calibri"/>
              </a:rPr>
              <a:t>Эмбеддинг -- не приватные данные по умолчанию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Исходный
текст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965960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Эмбеддинг
e0 = f(text)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965960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121A2B"/>
                </a:solidFill>
                <a:latin typeface="Calibri"/>
              </a:rPr>
              <a:t>Векторная БД /
сервис эмбеддинга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965960"/>
            <a:ext cx="2331720" cy="96012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Восстановленный
текст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965960"/>
            <a:ext cx="320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B82F6"/>
                </a:solidFill>
                <a:latin typeface="Calibri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965960"/>
            <a:ext cx="320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3B82F6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965960"/>
            <a:ext cx="3200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EF4444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2971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EF4444"/>
                </a:solidFill>
                <a:latin typeface="Calibri"/>
              </a:rPr>
              <a:t>модель инверсии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72200" y="3429000"/>
            <a:ext cx="5257800" cy="233172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37490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374904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94760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A2B"/>
                </a:solidFill>
                <a:latin typeface="Calibri"/>
              </a:rPr>
              <a:t>Утечка через инверсию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94760"/>
            <a:ext cx="3886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A2B"/>
                </a:solidFill>
                <a:latin typeface="Calibri"/>
              </a:rPr>
              <a:t>Переоценка устойчивости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4617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21A2B"/>
                </a:solidFill>
                <a:latin typeface="Calibri"/>
              </a:rPr>
              <a:t>Модель, обученная на парах (эмбеддинг, текст), восстанавливает исходный текст -- включая потенциально личные данные.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4617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21A2B"/>
                </a:solidFill>
                <a:latin typeface="Calibri"/>
              </a:rPr>
              <a:t>Типовая оценка защит -- только статический атакующий. Информированный противник дообучается именно под развёрнутую защиту (Carlini et al.).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A2B"/>
                </a:solidFill>
                <a:latin typeface="Cambria"/>
              </a:rPr>
              <a:t>Постановка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4748B"/>
                </a:solidFill>
                <a:latin typeface="Calibri"/>
              </a:rPr>
              <a:t>Четыре конкретные цели проекта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685800" cy="6858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0020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21A2B"/>
                </a:solidFill>
                <a:latin typeface="Calibri"/>
              </a:rPr>
              <a:t>Воспроизвести EntroGuard и сравнить с базовыми защитами (none / gaussian / PGD) на общих условиях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26080"/>
            <a:ext cx="685800" cy="68580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78892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21A2B"/>
                </a:solidFill>
                <a:latin typeface="Calibri"/>
              </a:rPr>
              <a:t>Проверить перенос защиты на LSTM и CNN -- архитектуры, не участвовавшие в её разработке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114800"/>
            <a:ext cx="685800" cy="6858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97764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21A2B"/>
                </a:solidFill>
                <a:latin typeface="Calibri"/>
              </a:rPr>
              <a:t>Проверить устойчивость к адаптивному атакующему, дообученному против конкретной защиты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303520"/>
            <a:ext cx="685800" cy="6858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166360"/>
            <a:ext cx="9418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21A2B"/>
                </a:solidFill>
                <a:latin typeface="Calibri"/>
              </a:rPr>
              <a:t>Оформить как воспроизводимый инструмент: сиды, веб-панель,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A2B"/>
                </a:solidFill>
                <a:latin typeface="Cambria"/>
              </a:rPr>
              <a:t>Архитектура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4748B"/>
                </a:solidFill>
                <a:latin typeface="Calibri"/>
              </a:rPr>
              <a:t>Замороженная victim-модель + обучаемый генератор возмущений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121A2B"/>
                </a:solidFill>
                <a:latin typeface="Calibri"/>
              </a:rPr>
              <a:t>Victim encoder
(заморожен)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52344" y="14173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Generator
G_theta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14173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Bound-aware
adaptation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59752" y="14173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Атакующий
(3 архитектуры)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3456" y="141732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Метрики
приватность,
полезность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17320"/>
            <a:ext cx="19202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64748B"/>
                </a:solidFill>
                <a:latin typeface="Calibri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4024" y="1417320"/>
            <a:ext cx="19202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64748B"/>
                </a:solidFill>
                <a:latin typeface="Calibri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417320"/>
            <a:ext cx="19202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64748B"/>
                </a:solidFill>
                <a:latin typeface="Calibri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432" y="1417320"/>
            <a:ext cx="19202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64748B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14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1A2B"/>
                </a:solidFill>
                <a:latin typeface="Calibri"/>
              </a:rPr>
              <a:t>Три независимые архитектуры атакующего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260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182112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272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1A2B"/>
                </a:solidFill>
                <a:latin typeface="Calibri"/>
              </a:rPr>
              <a:t>Transformer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9300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GEIA-стиль, decoder-only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9260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72000" y="3182112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1272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1A2B"/>
                </a:solidFill>
                <a:latin typeface="Calibri"/>
              </a:rPr>
              <a:t>LSTM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49300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Рекуррентная, многослойная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9260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66760" y="3182112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272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1A2B"/>
                </a:solidFill>
                <a:latin typeface="Calibri"/>
              </a:rPr>
              <a:t>CNN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49300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Дилатированные causal-свёртки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48640" y="4206240"/>
          <a:ext cx="110916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Защита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Тип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Доступ к атакующему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A2B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A2B"/>
                          </a:solidFill>
                          <a:latin typeface="Calibri"/>
                        </a:rPr>
                        <a:t>без защиты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A2B"/>
                          </a:solidFill>
                          <a:latin typeface="Calibri"/>
                        </a:rPr>
                        <a:t>--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A2B"/>
                          </a:solidFill>
                          <a:latin typeface="Calibri"/>
                        </a:rPr>
                        <a:t>gaussian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A2B"/>
                          </a:solidFill>
                          <a:latin typeface="Calibri"/>
                        </a:rPr>
                        <a:t>изотропный шум + проекция в epsilon-шар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A2B"/>
                          </a:solidFill>
                          <a:latin typeface="Calibri"/>
                        </a:rPr>
                        <a:t>нет (black-box)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A2B"/>
                          </a:solidFill>
                          <a:latin typeface="Calibri"/>
                        </a:rPr>
                        <a:t>pgd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A2B"/>
                          </a:solidFill>
                          <a:latin typeface="Calibri"/>
                        </a:rPr>
                        <a:t>градиентный подъём по loss + проекция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A2B"/>
                          </a:solidFill>
                          <a:latin typeface="Calibri"/>
                        </a:rPr>
                        <a:t>да, white-box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1A2B"/>
                          </a:solidFill>
                          <a:latin typeface="Calibri"/>
                        </a:rPr>
                        <a:t>entroguard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A2B"/>
                          </a:solidFill>
                          <a:latin typeface="Calibri"/>
                        </a:rPr>
                        <a:t>один forward через заранее обученный G_theta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1A2B"/>
                          </a:solidFill>
                          <a:latin typeface="Calibri"/>
                        </a:rPr>
                        <a:t>да при обучении G_theta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A2B"/>
                </a:solidFill>
                <a:latin typeface="Cambria"/>
              </a:rPr>
              <a:t>Эксперимент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4748B"/>
                </a:solidFill>
                <a:latin typeface="Calibri"/>
              </a:rPr>
              <a:t>Против transformer-атакующего, общий бюджет epsilon для всех защит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463040"/>
            <a:ext cx="4142232" cy="448056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19" y="1737360"/>
            <a:ext cx="3502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1A2B"/>
                </a:solidFill>
                <a:latin typeface="Calibri"/>
              </a:rPr>
              <a:t>Вывод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19" y="2331720"/>
            <a:ext cx="35021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121A2B"/>
                </a:solidFill>
                <a:latin typeface="Calibri"/>
              </a:rPr>
              <a:t>•  entroguard: BLEU-2 0.069 против 0.101 у gaussian -- заметно лучше приватность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3063240"/>
            <a:ext cx="35021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121A2B"/>
                </a:solidFill>
                <a:latin typeface="Calibri"/>
              </a:rPr>
              <a:t>•  ROUGE-1 почти одинаков (0.433 vs 0.429)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3794760"/>
            <a:ext cx="35021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121A2B"/>
                </a:solidFill>
                <a:latin typeface="Calibri"/>
              </a:rPr>
              <a:t>•  Но полезность (recall@5) ниже: 0.281 против 0.379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4526280"/>
            <a:ext cx="35021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121A2B"/>
                </a:solidFill>
                <a:latin typeface="Calibri"/>
              </a:rPr>
              <a:t>•  PGD (white-box): максимальная приватность (0.001), но нужны градиенты атакующего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5440680"/>
            <a:ext cx="3502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recall@5:  none 1.00 · gaussian 0.38 · pgd 0.40 · entroguard 0.28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A2B"/>
                </a:solidFill>
                <a:latin typeface="Cambria"/>
              </a:rPr>
              <a:t>Эксперимент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4748B"/>
                </a:solidFill>
                <a:latin typeface="Calibri"/>
              </a:rPr>
              <a:t>Перенос защиты на LSTM и CNN -- архитектуры вне дизайна метода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5440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72200" y="1463040"/>
          <a:ext cx="5440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89204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489204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056632"/>
            <a:ext cx="489204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21A2B"/>
                </a:solidFill>
                <a:latin typeface="Calibri"/>
              </a:rPr>
              <a:t>native (LSTM) -- лучший баланс проекта: recall@5 0.460 (выше всех), BLEU-2 0.009 (почти как PGD)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5056632"/>
            <a:ext cx="4892040" cy="905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21A2B"/>
                </a:solidFill>
                <a:latin typeface="Calibri"/>
              </a:rPr>
              <a:t>native (CNN) -- самая агрессивная защита: BLEU-2 0.002 (ниже PGD!), но recall@5 0.290 -- худшая полезность из всех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Эксперимент 3 -- адаптивный атакующий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93A4BF"/>
                </a:solidFill>
                <a:latin typeface="Calibri"/>
              </a:rPr>
              <a:t>Полный бюджет дообучения (20 эпох), transformer-атакующий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6400800" cy="461772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828800"/>
          <a:ext cx="58521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783080"/>
            <a:ext cx="4297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EF4444"/>
                </a:solidFill>
                <a:latin typeface="Calibri"/>
              </a:rPr>
              <a:t>+0.139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78892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прирост утечки BLEU-2 у entroguard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4290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4BF"/>
                </a:solidFill>
                <a:latin typeface="Calibri"/>
              </a:rPr>
              <a:t>gaussian:  +0.040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8404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3A4BF"/>
                </a:solidFill>
                <a:latin typeface="Calibri"/>
              </a:rPr>
              <a:t>pgd:  +0.031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25196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F4444"/>
                </a:solidFill>
                <a:latin typeface="Calibri"/>
              </a:rPr>
              <a:t>entroguard:  +0.139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02920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5EDF7"/>
                </a:solidFill>
                <a:latin typeface="Calibri"/>
              </a:rPr>
              <a:t>Под адаптивной атакой entroguard теряет приватность сильнее всех -- его защищённость становится хуже, чем у примитивного gaussian.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Живая 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93A4BF"/>
                </a:solidFill>
                <a:latin typeface="Calibri"/>
              </a:rPr>
              <a:t>Вкладка "Демо", localhost:8000 -- атака и защита на реально обученных моделях, в реальном времени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515600" cy="416052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10515600" cy="411480"/>
          </a:xfrm>
          <a:prstGeom prst="rect">
            <a:avLst/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" y="1632204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25880" y="1632204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00200" y="1632204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15087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localhost:8000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084832"/>
            <a:ext cx="9966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2084832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21A2B"/>
                </a:solidFill>
                <a:latin typeface="Calibri"/>
              </a:rPr>
              <a:t>Фраза:  "i work as a teacher"      Защита:  entroguard      ☑ сравнить с адаптивным атакующим (Эксп.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816352"/>
            <a:ext cx="318820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2980944"/>
            <a:ext cx="28224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F4444"/>
                </a:solidFill>
                <a:latin typeface="Calibri"/>
              </a:rPr>
              <a:t>БЕЗ ЗАЩИТЫ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76472"/>
            <a:ext cx="282244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121A2B"/>
                </a:solidFill>
                <a:latin typeface="Calibri"/>
              </a:rPr>
              <a:t>"i work as a 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36592"/>
            <a:ext cx="28224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F4444"/>
                </a:solidFill>
                <a:latin typeface="Calibri"/>
              </a:rPr>
              <a:t>BLEU-2 = 0.775  (утечка)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6656" y="2816352"/>
            <a:ext cx="318820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9536" y="2980944"/>
            <a:ext cx="28224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2C55E"/>
                </a:solidFill>
                <a:latin typeface="Calibri"/>
              </a:rPr>
              <a:t>С ЗАЩИТОЙ ENTROGUARD</a:t>
            </a:r>
          </a:p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2C55E"/>
                </a:solidFill>
                <a:latin typeface="Calibri"/>
              </a:rPr>
              <a:t>(статический атакующий)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9536" y="3776472"/>
            <a:ext cx="282244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121A2B"/>
                </a:solidFill>
                <a:latin typeface="Calibri"/>
              </a:rPr>
              <a:t>"."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9536" y="4736592"/>
            <a:ext cx="28224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C55E"/>
                </a:solidFill>
                <a:latin typeface="Calibri"/>
              </a:rPr>
              <a:t>BLEU-2 = 0.000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76032" y="2816352"/>
            <a:ext cx="318820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58912" y="2980944"/>
            <a:ext cx="28224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97316"/>
                </a:solidFill>
                <a:latin typeface="Calibri"/>
              </a:rPr>
              <a:t>АДАПТИВНЫЙ АТАКУЮЩИЙ</a:t>
            </a:r>
          </a:p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97316"/>
                </a:solidFill>
                <a:latin typeface="Calibri"/>
              </a:rPr>
              <a:t>против entroguard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8912" y="3776472"/>
            <a:ext cx="282244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121A2B"/>
                </a:solidFill>
                <a:latin typeface="Calibri"/>
              </a:rPr>
              <a:t>"i work as a 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8912" y="4736592"/>
            <a:ext cx="28224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Calibri"/>
              </a:rPr>
              <a:t>BLEU-2 = 0.775  (Δ +0.775)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Один и тот же защищённый эмбеддинг -- статический атакующий обманут, адаптивный восстанавливает утечку полностью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21A2B"/>
                </a:solidFill>
                <a:latin typeface="Cambria"/>
              </a:rPr>
              <a:t>Выводы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755648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1A2B"/>
                </a:solidFill>
                <a:latin typeface="Calibri"/>
              </a:rPr>
              <a:t>Рецепт переносится, веса -- нет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21284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Zero-shot перенос ≈ случайный шум и на LSTM, и на CNN -- независимое двойное подтверждение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356616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355848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1A2B"/>
                </a:solidFill>
                <a:latin typeface="Calibri"/>
              </a:rPr>
              <a:t>Компромисс архитектурно-зависим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81304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LSTM: лучший баланс проекта. CNN: максимум приватности (сильнее PGD), но худшая полезность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8680" y="516636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956048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1A2B"/>
                </a:solidFill>
                <a:latin typeface="Calibri"/>
              </a:rPr>
              <a:t>Главный вывод: статическая оценка переоценивает защиту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41324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Под адаптивным атакующим entroguard теряет приватность сильнее всех -- хуже, чем примитивный gaussian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1" y="2651760"/>
            <a:ext cx="12191695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5400" b="1" i="0" dirty="0">
                <a:solidFill>
                  <a:srgbClr val="FFFFFF"/>
                </a:solidFill>
                <a:latin typeface="Cambria"/>
              </a:rPr>
              <a:t>Анпилогов Антон</a:t>
            </a:r>
          </a:p>
          <a:p>
            <a:pPr algn="ctr">
              <a:lnSpc>
                <a:spcPct val="100000"/>
              </a:lnSpc>
            </a:pPr>
            <a:r>
              <a:rPr lang="en-US" sz="5400" b="1" i="0" dirty="0">
                <a:solidFill>
                  <a:srgbClr val="FFFFFF"/>
                </a:solidFill>
                <a:latin typeface="Cambria"/>
              </a:rPr>
              <a:t>@Sandarr41</a:t>
            </a:r>
            <a:endParaRPr sz="5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" y="6217920"/>
            <a:ext cx="12191695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 dirty="0" err="1">
                <a:solidFill>
                  <a:srgbClr val="64748B"/>
                </a:solidFill>
                <a:latin typeface="Calibri"/>
              </a:rPr>
              <a:t>EntroGuard</a:t>
            </a:r>
            <a:endParaRPr sz="1300" b="0" i="0" dirty="0">
              <a:solidFill>
                <a:srgbClr val="64748B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646</Words>
  <Application>Microsoft Office PowerPoint</Application>
  <PresentationFormat>Широкоэкранный</PresentationFormat>
  <Paragraphs>118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Анпилогов Антон Борисович</cp:lastModifiedBy>
  <cp:revision>2</cp:revision>
  <dcterms:created xsi:type="dcterms:W3CDTF">2013-01-27T09:14:16Z</dcterms:created>
  <dcterms:modified xsi:type="dcterms:W3CDTF">2026-09-23T23:08:56Z</dcterms:modified>
  <cp:category/>
</cp:coreProperties>
</file>